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sldIdLst>
    <p:sldId id="4582" r:id="rId2"/>
    <p:sldId id="4583" r:id="rId3"/>
    <p:sldId id="4584" r:id="rId4"/>
    <p:sldId id="4585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2B9"/>
    <a:srgbClr val="CDEAF0"/>
    <a:srgbClr val="CBE1BE"/>
    <a:srgbClr val="FFD99B"/>
    <a:srgbClr val="FFC3C7"/>
    <a:srgbClr val="B4E2D3"/>
    <a:srgbClr val="BADDF5"/>
    <a:srgbClr val="5290E2"/>
    <a:srgbClr val="FFFFFF"/>
    <a:srgbClr val="EAE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0730" autoAdjust="0"/>
  </p:normalViewPr>
  <p:slideViewPr>
    <p:cSldViewPr snapToGrid="0">
      <p:cViewPr varScale="1">
        <p:scale>
          <a:sx n="105" d="100"/>
          <a:sy n="105" d="100"/>
        </p:scale>
        <p:origin x="1794" y="10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C9EB6-00C2-4A58-855C-B384D3355003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C51A7-58F4-4203-A627-0DB111D56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742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C51A7-58F4-4203-A627-0DB111D56A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6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58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29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92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798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63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0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78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79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20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12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81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288B6-E9E3-4466-B1A7-B0EECA594664}" type="datetimeFigureOut">
              <a:rPr lang="zh-CN" altLang="en-US" smtClean="0"/>
              <a:t>2025-07-01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CB2BB-B79E-4B76-924D-7F1744FA4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934B4-33A6-7BEC-8DE0-4D26D957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E72155E8-E426-F1B6-8E07-243C615F321B}"/>
              </a:ext>
            </a:extLst>
          </p:cNvPr>
          <p:cNvGrpSpPr/>
          <p:nvPr/>
        </p:nvGrpSpPr>
        <p:grpSpPr>
          <a:xfrm>
            <a:off x="-314078" y="493157"/>
            <a:ext cx="9269120" cy="6736645"/>
            <a:chOff x="-711860" y="1355257"/>
            <a:chExt cx="9269120" cy="6736645"/>
          </a:xfrm>
        </p:grpSpPr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AEDF8A2-CFA3-82CC-E123-051ED367DD36}"/>
                </a:ext>
              </a:extLst>
            </p:cNvPr>
            <p:cNvSpPr txBox="1"/>
            <p:nvPr/>
          </p:nvSpPr>
          <p:spPr>
            <a:xfrm>
              <a:off x="-711860" y="2059448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表现层</a:t>
              </a: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B9E8040D-04DA-FC1B-5636-00C9CF08479B}"/>
                </a:ext>
              </a:extLst>
            </p:cNvPr>
            <p:cNvSpPr txBox="1"/>
            <p:nvPr/>
          </p:nvSpPr>
          <p:spPr>
            <a:xfrm>
              <a:off x="-711860" y="4022871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应用层</a:t>
              </a:r>
            </a:p>
          </p:txBody>
        </p:sp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C776E9AF-44D3-0F84-7EC2-FA429A75466E}"/>
                </a:ext>
              </a:extLst>
            </p:cNvPr>
            <p:cNvGrpSpPr/>
            <p:nvPr/>
          </p:nvGrpSpPr>
          <p:grpSpPr>
            <a:xfrm>
              <a:off x="554040" y="1363590"/>
              <a:ext cx="6367177" cy="1661814"/>
              <a:chOff x="554040" y="1212758"/>
              <a:chExt cx="6367177" cy="1661814"/>
            </a:xfrm>
          </p:grpSpPr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EBEE578E-36B3-42CD-3418-58D589E90870}"/>
                  </a:ext>
                </a:extLst>
              </p:cNvPr>
              <p:cNvSpPr/>
              <p:nvPr/>
            </p:nvSpPr>
            <p:spPr>
              <a:xfrm>
                <a:off x="554040" y="1212758"/>
                <a:ext cx="6367177" cy="1661814"/>
              </a:xfrm>
              <a:prstGeom prst="roundRect">
                <a:avLst>
                  <a:gd name="adj" fmla="val 4632"/>
                </a:avLst>
              </a:prstGeom>
              <a:solidFill>
                <a:srgbClr val="B4E2D3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2B778948-46A7-FAA3-075A-F4833A0D0D31}"/>
                  </a:ext>
                </a:extLst>
              </p:cNvPr>
              <p:cNvSpPr/>
              <p:nvPr/>
            </p:nvSpPr>
            <p:spPr>
              <a:xfrm>
                <a:off x="3790700" y="1354961"/>
                <a:ext cx="1493180" cy="2626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图像处理与预览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D8B219BE-5A8C-E9FA-4CD1-E97B46D702EB}"/>
                  </a:ext>
                </a:extLst>
              </p:cNvPr>
              <p:cNvSpPr/>
              <p:nvPr/>
            </p:nvSpPr>
            <p:spPr>
              <a:xfrm>
                <a:off x="1858478" y="1357126"/>
                <a:ext cx="183093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跨平台支持</a:t>
                </a:r>
              </a:p>
            </p:txBody>
          </p:sp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1200BC66-AE1F-C5E4-6481-F719622C61C9}"/>
                  </a:ext>
                </a:extLst>
              </p:cNvPr>
              <p:cNvSpPr/>
              <p:nvPr/>
            </p:nvSpPr>
            <p:spPr>
              <a:xfrm>
                <a:off x="662464" y="1362304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页面布局</a:t>
                </a:r>
              </a:p>
            </p:txBody>
          </p:sp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EBC3B6EF-25D3-2560-51E7-ED7B7B1A72F0}"/>
                  </a:ext>
                </a:extLst>
              </p:cNvPr>
              <p:cNvSpPr/>
              <p:nvPr/>
            </p:nvSpPr>
            <p:spPr>
              <a:xfrm>
                <a:off x="662465" y="1715393"/>
                <a:ext cx="194671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复杂数据状态管理</a:t>
                </a:r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9A7FB39F-E41B-29CC-09AB-B7306D6247C2}"/>
                  </a:ext>
                </a:extLst>
              </p:cNvPr>
              <p:cNvSpPr/>
              <p:nvPr/>
            </p:nvSpPr>
            <p:spPr>
              <a:xfrm>
                <a:off x="2715528" y="1715392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主题切换</a:t>
                </a:r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143A43F2-B534-25B3-0F5B-BE40B6BDE315}"/>
                  </a:ext>
                </a:extLst>
              </p:cNvPr>
              <p:cNvSpPr/>
              <p:nvPr/>
            </p:nvSpPr>
            <p:spPr>
              <a:xfrm>
                <a:off x="5390233" y="1354961"/>
                <a:ext cx="1427409" cy="2626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内容管理与编辑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37997E1A-E806-E142-F698-821DDE31F6FA}"/>
                  </a:ext>
                </a:extLst>
              </p:cNvPr>
              <p:cNvSpPr/>
              <p:nvPr/>
            </p:nvSpPr>
            <p:spPr>
              <a:xfrm>
                <a:off x="3803649" y="1715392"/>
                <a:ext cx="30269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数据交互与</a:t>
                </a:r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API</a:t>
                </a:r>
                <a:r>
                  <a:rPr lang="zh-CN" altLang="en-US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请求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E6F962D9-9183-5353-81FD-99FEC2CB8C41}"/>
                  </a:ext>
                </a:extLst>
              </p:cNvPr>
              <p:cNvSpPr/>
              <p:nvPr/>
            </p:nvSpPr>
            <p:spPr>
              <a:xfrm>
                <a:off x="662466" y="2494626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Vue.js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矩形: 圆角 76">
                <a:extLst>
                  <a:ext uri="{FF2B5EF4-FFF2-40B4-BE49-F238E27FC236}">
                    <a16:creationId xmlns:a16="http://schemas.microsoft.com/office/drawing/2014/main" id="{62B7D99C-36C7-64A5-FC35-A95499200A04}"/>
                  </a:ext>
                </a:extLst>
              </p:cNvPr>
              <p:cNvSpPr/>
              <p:nvPr/>
            </p:nvSpPr>
            <p:spPr>
              <a:xfrm>
                <a:off x="3803648" y="2493806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Element Plus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矩形: 圆角 77">
                <a:extLst>
                  <a:ext uri="{FF2B5EF4-FFF2-40B4-BE49-F238E27FC236}">
                    <a16:creationId xmlns:a16="http://schemas.microsoft.com/office/drawing/2014/main" id="{1E6E475D-3FB4-3E68-F1FA-885D36FFCDA9}"/>
                  </a:ext>
                </a:extLst>
              </p:cNvPr>
              <p:cNvSpPr/>
              <p:nvPr/>
            </p:nvSpPr>
            <p:spPr>
              <a:xfrm>
                <a:off x="4999662" y="2133131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Axios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C289311D-07FB-E7FD-C95A-0881FB078F5D}"/>
                  </a:ext>
                </a:extLst>
              </p:cNvPr>
              <p:cNvSpPr/>
              <p:nvPr/>
            </p:nvSpPr>
            <p:spPr>
              <a:xfrm>
                <a:off x="4999662" y="2493806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ECharts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A0699C72-19D1-76DA-52E5-CA05C9700B13}"/>
                  </a:ext>
                </a:extLst>
              </p:cNvPr>
              <p:cNvSpPr/>
              <p:nvPr/>
            </p:nvSpPr>
            <p:spPr>
              <a:xfrm>
                <a:off x="1858479" y="2141536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CSS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15C199D6-6FEB-244F-BD65-D92E7C0A3090}"/>
                  </a:ext>
                </a:extLst>
              </p:cNvPr>
              <p:cNvSpPr/>
              <p:nvPr/>
            </p:nvSpPr>
            <p:spPr>
              <a:xfrm>
                <a:off x="2715528" y="2136359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HTML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0024C1B7-B0F9-33AB-97A1-C6F749DF06AC}"/>
                  </a:ext>
                </a:extLst>
              </p:cNvPr>
              <p:cNvSpPr/>
              <p:nvPr/>
            </p:nvSpPr>
            <p:spPr>
              <a:xfrm>
                <a:off x="662464" y="2141537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TypeScript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6F404E99-5F3E-A61C-4851-98F4F243BAE2}"/>
                  </a:ext>
                </a:extLst>
              </p:cNvPr>
              <p:cNvSpPr/>
              <p:nvPr/>
            </p:nvSpPr>
            <p:spPr>
              <a:xfrm>
                <a:off x="3803648" y="2133131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Vue Router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矩形: 圆角 83">
                <a:extLst>
                  <a:ext uri="{FF2B5EF4-FFF2-40B4-BE49-F238E27FC236}">
                    <a16:creationId xmlns:a16="http://schemas.microsoft.com/office/drawing/2014/main" id="{0B503B38-70FB-4C31-0667-44C2939F6292}"/>
                  </a:ext>
                </a:extLst>
              </p:cNvPr>
              <p:cNvSpPr/>
              <p:nvPr/>
            </p:nvSpPr>
            <p:spPr>
              <a:xfrm>
                <a:off x="5856711" y="2133130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Pinia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矩形: 圆角 84">
                <a:extLst>
                  <a:ext uri="{FF2B5EF4-FFF2-40B4-BE49-F238E27FC236}">
                    <a16:creationId xmlns:a16="http://schemas.microsoft.com/office/drawing/2014/main" id="{69FCDB2C-E601-BD31-E9C0-34C6ABA52520}"/>
                  </a:ext>
                </a:extLst>
              </p:cNvPr>
              <p:cNvSpPr/>
              <p:nvPr/>
            </p:nvSpPr>
            <p:spPr>
              <a:xfrm>
                <a:off x="5856711" y="2493806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MarkdownIt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A175DDA2-2259-A515-87EB-5D4C221CF45A}"/>
                  </a:ext>
                </a:extLst>
              </p:cNvPr>
              <p:cNvSpPr/>
              <p:nvPr/>
            </p:nvSpPr>
            <p:spPr>
              <a:xfrm>
                <a:off x="2222783" y="2494626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Node.js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CE094B71-4263-41AA-DDF3-4D01CC10B8E2}"/>
                </a:ext>
              </a:extLst>
            </p:cNvPr>
            <p:cNvGrpSpPr/>
            <p:nvPr/>
          </p:nvGrpSpPr>
          <p:grpSpPr>
            <a:xfrm>
              <a:off x="554041" y="2205102"/>
              <a:ext cx="6367176" cy="2944666"/>
              <a:chOff x="554041" y="2205102"/>
              <a:chExt cx="6367176" cy="2944666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F5FD108C-5239-A414-CA11-A90A84B1BE97}"/>
                  </a:ext>
                </a:extLst>
              </p:cNvPr>
              <p:cNvSpPr/>
              <p:nvPr/>
            </p:nvSpPr>
            <p:spPr>
              <a:xfrm>
                <a:off x="554041" y="3117510"/>
                <a:ext cx="6367176" cy="2032258"/>
              </a:xfrm>
              <a:prstGeom prst="roundRect">
                <a:avLst>
                  <a:gd name="adj" fmla="val 3924"/>
                </a:avLst>
              </a:prstGeom>
              <a:solidFill>
                <a:srgbClr val="CBE1BE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EE9A7056-CE81-0F2B-F389-D92DB3A04CA0}"/>
                  </a:ext>
                </a:extLst>
              </p:cNvPr>
              <p:cNvSpPr/>
              <p:nvPr/>
            </p:nvSpPr>
            <p:spPr>
              <a:xfrm>
                <a:off x="1858478" y="3609655"/>
                <a:ext cx="183093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异步处理与消息队列</a:t>
                </a:r>
              </a:p>
            </p:txBody>
          </p:sp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D3275BFF-59E8-896D-1F1C-570875EB7222}"/>
                  </a:ext>
                </a:extLst>
              </p:cNvPr>
              <p:cNvSpPr/>
              <p:nvPr/>
            </p:nvSpPr>
            <p:spPr>
              <a:xfrm>
                <a:off x="662464" y="3614833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Web API 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服务</a:t>
                </a:r>
              </a:p>
            </p:txBody>
          </p:sp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EB0F2370-6D65-A54B-E74C-5AE42CC81730}"/>
                  </a:ext>
                </a:extLst>
              </p:cNvPr>
              <p:cNvSpPr/>
              <p:nvPr/>
            </p:nvSpPr>
            <p:spPr>
              <a:xfrm>
                <a:off x="662465" y="3967922"/>
                <a:ext cx="194671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权限管理与用户角色控制</a:t>
                </a:r>
              </a:p>
            </p:txBody>
          </p:sp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A2B9B2F1-87A2-E3E1-51E8-F8E5C0AAF4D9}"/>
                  </a:ext>
                </a:extLst>
              </p:cNvPr>
              <p:cNvSpPr/>
              <p:nvPr/>
            </p:nvSpPr>
            <p:spPr>
              <a:xfrm>
                <a:off x="2715528" y="3967921"/>
                <a:ext cx="9738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缓存服务</a:t>
                </a:r>
              </a:p>
            </p:txBody>
          </p:sp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DF01F6C8-3D03-3082-3EB5-B21210D1863A}"/>
                  </a:ext>
                </a:extLst>
              </p:cNvPr>
              <p:cNvSpPr/>
              <p:nvPr/>
            </p:nvSpPr>
            <p:spPr>
              <a:xfrm>
                <a:off x="662465" y="4417930"/>
                <a:ext cx="146662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Spring Boot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AAF99B96-2B90-8721-AC96-B31AE40269B1}"/>
                  </a:ext>
                </a:extLst>
              </p:cNvPr>
              <p:cNvSpPr/>
              <p:nvPr/>
            </p:nvSpPr>
            <p:spPr>
              <a:xfrm>
                <a:off x="3803648" y="4427291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MyBatis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-Plus</a:t>
                </a:r>
              </a:p>
            </p:txBody>
          </p:sp>
          <p:sp>
            <p:nvSpPr>
              <p:cNvPr id="99" name="矩形: 圆角 98">
                <a:extLst>
                  <a:ext uri="{FF2B5EF4-FFF2-40B4-BE49-F238E27FC236}">
                    <a16:creationId xmlns:a16="http://schemas.microsoft.com/office/drawing/2014/main" id="{E735A5EC-4831-CC33-663F-6DC621202D73}"/>
                  </a:ext>
                </a:extLst>
              </p:cNvPr>
              <p:cNvSpPr/>
              <p:nvPr/>
            </p:nvSpPr>
            <p:spPr>
              <a:xfrm>
                <a:off x="1858478" y="4769221"/>
                <a:ext cx="9257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Spring AOP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矩形: 圆角 99">
                <a:extLst>
                  <a:ext uri="{FF2B5EF4-FFF2-40B4-BE49-F238E27FC236}">
                    <a16:creationId xmlns:a16="http://schemas.microsoft.com/office/drawing/2014/main" id="{F85F1C96-6553-E4F4-9962-97286FF1AEA5}"/>
                  </a:ext>
                </a:extLst>
              </p:cNvPr>
              <p:cNvSpPr/>
              <p:nvPr/>
            </p:nvSpPr>
            <p:spPr>
              <a:xfrm>
                <a:off x="4999661" y="4427291"/>
                <a:ext cx="750697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Lombok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191EE571-B743-4603-514A-FB853DE82C53}"/>
                  </a:ext>
                </a:extLst>
              </p:cNvPr>
              <p:cNvSpPr/>
              <p:nvPr/>
            </p:nvSpPr>
            <p:spPr>
              <a:xfrm>
                <a:off x="4999663" y="4773985"/>
                <a:ext cx="75069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Log4j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矩形: 圆角 101">
                <a:extLst>
                  <a:ext uri="{FF2B5EF4-FFF2-40B4-BE49-F238E27FC236}">
                    <a16:creationId xmlns:a16="http://schemas.microsoft.com/office/drawing/2014/main" id="{F51B97B5-2754-1E00-BF49-53D243878FE3}"/>
                  </a:ext>
                </a:extLst>
              </p:cNvPr>
              <p:cNvSpPr/>
              <p:nvPr/>
            </p:nvSpPr>
            <p:spPr>
              <a:xfrm>
                <a:off x="5856710" y="4768808"/>
                <a:ext cx="97388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Druid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2B3FB75A-E5AE-74B4-49ED-6F7433A82082}"/>
                  </a:ext>
                </a:extLst>
              </p:cNvPr>
              <p:cNvSpPr/>
              <p:nvPr/>
            </p:nvSpPr>
            <p:spPr>
              <a:xfrm>
                <a:off x="3803648" y="4773986"/>
                <a:ext cx="108966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MapStruct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4EDB5E1F-2816-A61F-63D6-3DB90E615792}"/>
                  </a:ext>
                </a:extLst>
              </p:cNvPr>
              <p:cNvSpPr/>
              <p:nvPr/>
            </p:nvSpPr>
            <p:spPr>
              <a:xfrm>
                <a:off x="662464" y="4769221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Spring MVC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矩形: 圆角 104">
                <a:extLst>
                  <a:ext uri="{FF2B5EF4-FFF2-40B4-BE49-F238E27FC236}">
                    <a16:creationId xmlns:a16="http://schemas.microsoft.com/office/drawing/2014/main" id="{FCD712BC-4729-8DAC-F545-B4E4BA933BAE}"/>
                  </a:ext>
                </a:extLst>
              </p:cNvPr>
              <p:cNvSpPr/>
              <p:nvPr/>
            </p:nvSpPr>
            <p:spPr>
              <a:xfrm>
                <a:off x="2890586" y="4769220"/>
                <a:ext cx="79882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Java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3C7929FA-319C-1759-81A3-FFC0B114F6F2}"/>
                  </a:ext>
                </a:extLst>
              </p:cNvPr>
              <p:cNvSpPr/>
              <p:nvPr/>
            </p:nvSpPr>
            <p:spPr>
              <a:xfrm>
                <a:off x="5856710" y="4427291"/>
                <a:ext cx="97388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Swagger</a:t>
                </a:r>
              </a:p>
            </p:txBody>
          </p:sp>
          <p:sp>
            <p:nvSpPr>
              <p:cNvPr id="107" name="矩形: 圆角 106">
                <a:extLst>
                  <a:ext uri="{FF2B5EF4-FFF2-40B4-BE49-F238E27FC236}">
                    <a16:creationId xmlns:a16="http://schemas.microsoft.com/office/drawing/2014/main" id="{BA004FA7-36BB-293F-D830-83A975EDC8FC}"/>
                  </a:ext>
                </a:extLst>
              </p:cNvPr>
              <p:cNvSpPr/>
              <p:nvPr/>
            </p:nvSpPr>
            <p:spPr>
              <a:xfrm>
                <a:off x="2243582" y="4417930"/>
                <a:ext cx="144582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Spring Security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矩形: 圆角 140">
                <a:extLst>
                  <a:ext uri="{FF2B5EF4-FFF2-40B4-BE49-F238E27FC236}">
                    <a16:creationId xmlns:a16="http://schemas.microsoft.com/office/drawing/2014/main" id="{F98606DF-0908-2389-35DB-02365BE1F8E6}"/>
                  </a:ext>
                </a:extLst>
              </p:cNvPr>
              <p:cNvSpPr/>
              <p:nvPr/>
            </p:nvSpPr>
            <p:spPr>
              <a:xfrm>
                <a:off x="3803649" y="3609655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数据库操作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矩形: 圆角 141">
                <a:extLst>
                  <a:ext uri="{FF2B5EF4-FFF2-40B4-BE49-F238E27FC236}">
                    <a16:creationId xmlns:a16="http://schemas.microsoft.com/office/drawing/2014/main" id="{08C4F053-4A6B-A7E4-3084-0D024B6FA4A0}"/>
                  </a:ext>
                </a:extLst>
              </p:cNvPr>
              <p:cNvSpPr/>
              <p:nvPr/>
            </p:nvSpPr>
            <p:spPr>
              <a:xfrm>
                <a:off x="5403182" y="3609655"/>
                <a:ext cx="1427409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日志与监控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矩形: 圆角 142">
                <a:extLst>
                  <a:ext uri="{FF2B5EF4-FFF2-40B4-BE49-F238E27FC236}">
                    <a16:creationId xmlns:a16="http://schemas.microsoft.com/office/drawing/2014/main" id="{3C51C81E-95FA-7991-86F8-EF6141AEA2FD}"/>
                  </a:ext>
                </a:extLst>
              </p:cNvPr>
              <p:cNvSpPr/>
              <p:nvPr/>
            </p:nvSpPr>
            <p:spPr>
              <a:xfrm>
                <a:off x="3803650" y="3960945"/>
                <a:ext cx="30269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文件上传与对象存储服务</a:t>
                </a:r>
              </a:p>
            </p:txBody>
          </p: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2AD1458C-0F70-4415-0AE7-F44741FAF7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041" y="2205102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矩形: 圆角 155">
                <a:extLst>
                  <a:ext uri="{FF2B5EF4-FFF2-40B4-BE49-F238E27FC236}">
                    <a16:creationId xmlns:a16="http://schemas.microsoft.com/office/drawing/2014/main" id="{EC6DEBB3-D2A5-01AE-ED82-6621313FC651}"/>
                  </a:ext>
                </a:extLst>
              </p:cNvPr>
              <p:cNvSpPr/>
              <p:nvPr/>
            </p:nvSpPr>
            <p:spPr>
              <a:xfrm>
                <a:off x="662464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前端交互层</a:t>
                </a:r>
              </a:p>
            </p:txBody>
          </p:sp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FE34B813-BBE4-6EF4-296C-7B693CFC1622}"/>
                  </a:ext>
                </a:extLst>
              </p:cNvPr>
              <p:cNvSpPr/>
              <p:nvPr/>
            </p:nvSpPr>
            <p:spPr>
              <a:xfrm>
                <a:off x="2273322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业务逻辑层</a:t>
                </a:r>
              </a:p>
            </p:txBody>
          </p:sp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C6D3175C-54FF-1273-EF19-EFB5899A2C07}"/>
                  </a:ext>
                </a:extLst>
              </p:cNvPr>
              <p:cNvSpPr/>
              <p:nvPr/>
            </p:nvSpPr>
            <p:spPr>
              <a:xfrm>
                <a:off x="3884180" y="3202485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数据访问层</a:t>
                </a:r>
              </a:p>
            </p:txBody>
          </p:sp>
          <p:sp>
            <p:nvSpPr>
              <p:cNvPr id="159" name="矩形: 圆角 158">
                <a:extLst>
                  <a:ext uri="{FF2B5EF4-FFF2-40B4-BE49-F238E27FC236}">
                    <a16:creationId xmlns:a16="http://schemas.microsoft.com/office/drawing/2014/main" id="{2A2C9345-9F02-F043-355F-5036D077BC8D}"/>
                  </a:ext>
                </a:extLst>
              </p:cNvPr>
              <p:cNvSpPr/>
              <p:nvPr/>
            </p:nvSpPr>
            <p:spPr>
              <a:xfrm>
                <a:off x="5495037" y="3202200"/>
                <a:ext cx="13355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实体层</a:t>
                </a:r>
              </a:p>
            </p:txBody>
          </p: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FE1C3AD2-EE70-0C2A-FBFF-460CEA474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041" y="3529578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 244">
                <a:extLst>
                  <a:ext uri="{FF2B5EF4-FFF2-40B4-BE49-F238E27FC236}">
                    <a16:creationId xmlns:a16="http://schemas.microsoft.com/office/drawing/2014/main" id="{026197CB-BBD8-53C4-40E8-EFA5C0D07D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4041" y="4322112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C96514D5-8923-DAFC-71EE-CA19D2BE64A7}"/>
                </a:ext>
              </a:extLst>
            </p:cNvPr>
            <p:cNvGrpSpPr/>
            <p:nvPr/>
          </p:nvGrpSpPr>
          <p:grpSpPr>
            <a:xfrm>
              <a:off x="541509" y="5232400"/>
              <a:ext cx="6367176" cy="1644175"/>
              <a:chOff x="541509" y="5626100"/>
              <a:chExt cx="6367176" cy="1644175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F708A573-07F8-F458-680D-AE519BF97667}"/>
                  </a:ext>
                </a:extLst>
              </p:cNvPr>
              <p:cNvSpPr/>
              <p:nvPr/>
            </p:nvSpPr>
            <p:spPr>
              <a:xfrm>
                <a:off x="545199" y="5626100"/>
                <a:ext cx="6363485" cy="1644175"/>
              </a:xfrm>
              <a:prstGeom prst="roundRect">
                <a:avLst>
                  <a:gd name="adj" fmla="val 4248"/>
                </a:avLst>
              </a:prstGeom>
              <a:solidFill>
                <a:srgbClr val="F5D2B9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endParaRPr lang="zh-CN" altLang="en-US" sz="10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矩形: 圆角 117">
                <a:extLst>
                  <a:ext uri="{FF2B5EF4-FFF2-40B4-BE49-F238E27FC236}">
                    <a16:creationId xmlns:a16="http://schemas.microsoft.com/office/drawing/2014/main" id="{7508DFF2-C31B-1F1D-1CA6-5645F4908956}"/>
                  </a:ext>
                </a:extLst>
              </p:cNvPr>
              <p:cNvSpPr/>
              <p:nvPr/>
            </p:nvSpPr>
            <p:spPr>
              <a:xfrm>
                <a:off x="649935" y="6549930"/>
                <a:ext cx="72183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Python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45B183A4-40BB-72D3-5BEF-07CB54850D76}"/>
                  </a:ext>
                </a:extLst>
              </p:cNvPr>
              <p:cNvSpPr/>
              <p:nvPr/>
            </p:nvSpPr>
            <p:spPr>
              <a:xfrm>
                <a:off x="3766360" y="6549930"/>
                <a:ext cx="90264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FAISS</a:t>
                </a:r>
              </a:p>
            </p:txBody>
          </p:sp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8EC5DF52-FBBF-219D-362C-50E1E48E7773}"/>
                  </a:ext>
                </a:extLst>
              </p:cNvPr>
              <p:cNvSpPr/>
              <p:nvPr/>
            </p:nvSpPr>
            <p:spPr>
              <a:xfrm>
                <a:off x="1470464" y="6893189"/>
                <a:ext cx="925754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Pandas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634A39A7-A2D9-F002-D24B-473452071D74}"/>
                  </a:ext>
                </a:extLst>
              </p:cNvPr>
              <p:cNvSpPr/>
              <p:nvPr/>
            </p:nvSpPr>
            <p:spPr>
              <a:xfrm>
                <a:off x="4766036" y="6549930"/>
                <a:ext cx="92575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DeepSpeed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A0557472-4FF5-E899-333A-3BCDBD111B0D}"/>
                  </a:ext>
                </a:extLst>
              </p:cNvPr>
              <p:cNvSpPr/>
              <p:nvPr/>
            </p:nvSpPr>
            <p:spPr>
              <a:xfrm>
                <a:off x="4766037" y="6888592"/>
                <a:ext cx="925753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LangChain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F1FE50DF-2723-275D-4FE0-8EA8321C40AD}"/>
                  </a:ext>
                </a:extLst>
              </p:cNvPr>
              <p:cNvSpPr/>
              <p:nvPr/>
            </p:nvSpPr>
            <p:spPr>
              <a:xfrm>
                <a:off x="5777447" y="6883415"/>
                <a:ext cx="10116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Pdf2docx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角 123">
                <a:extLst>
                  <a:ext uri="{FF2B5EF4-FFF2-40B4-BE49-F238E27FC236}">
                    <a16:creationId xmlns:a16="http://schemas.microsoft.com/office/drawing/2014/main" id="{EA526A0C-DF1D-F066-BA9B-52DF6E77A81D}"/>
                  </a:ext>
                </a:extLst>
              </p:cNvPr>
              <p:cNvSpPr/>
              <p:nvPr/>
            </p:nvSpPr>
            <p:spPr>
              <a:xfrm>
                <a:off x="3766359" y="6888593"/>
                <a:ext cx="902643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NumPy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矩形: 圆角 124">
                <a:extLst>
                  <a:ext uri="{FF2B5EF4-FFF2-40B4-BE49-F238E27FC236}">
                    <a16:creationId xmlns:a16="http://schemas.microsoft.com/office/drawing/2014/main" id="{672754E4-7DC6-4A38-5F12-B855ED0F0950}"/>
                  </a:ext>
                </a:extLst>
              </p:cNvPr>
              <p:cNvSpPr/>
              <p:nvPr/>
            </p:nvSpPr>
            <p:spPr>
              <a:xfrm>
                <a:off x="649933" y="6893189"/>
                <a:ext cx="721835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Flask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矩形: 圆角 125">
                <a:extLst>
                  <a:ext uri="{FF2B5EF4-FFF2-40B4-BE49-F238E27FC236}">
                    <a16:creationId xmlns:a16="http://schemas.microsoft.com/office/drawing/2014/main" id="{1F61C91B-31F5-4A75-1364-E8D912FFBEE3}"/>
                  </a:ext>
                </a:extLst>
              </p:cNvPr>
              <p:cNvSpPr/>
              <p:nvPr/>
            </p:nvSpPr>
            <p:spPr>
              <a:xfrm>
                <a:off x="2485156" y="6893188"/>
                <a:ext cx="1195547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Transformers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E4C0D73C-AC46-1A88-BA7F-3D902E3CBC3E}"/>
                  </a:ext>
                </a:extLst>
              </p:cNvPr>
              <p:cNvSpPr/>
              <p:nvPr/>
            </p:nvSpPr>
            <p:spPr>
              <a:xfrm>
                <a:off x="5777447" y="6549930"/>
                <a:ext cx="1011642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Scikit-learn</a:t>
                </a:r>
              </a:p>
            </p:txBody>
          </p:sp>
          <p:sp>
            <p:nvSpPr>
              <p:cNvPr id="128" name="矩形: 圆角 127">
                <a:extLst>
                  <a:ext uri="{FF2B5EF4-FFF2-40B4-BE49-F238E27FC236}">
                    <a16:creationId xmlns:a16="http://schemas.microsoft.com/office/drawing/2014/main" id="{81F5802D-763B-A973-5748-FDCD4C1C703F}"/>
                  </a:ext>
                </a:extLst>
              </p:cNvPr>
              <p:cNvSpPr/>
              <p:nvPr/>
            </p:nvSpPr>
            <p:spPr>
              <a:xfrm>
                <a:off x="1476502" y="6549930"/>
                <a:ext cx="91971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PyTorch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矩形: 圆角 128">
                <a:extLst>
                  <a:ext uri="{FF2B5EF4-FFF2-40B4-BE49-F238E27FC236}">
                    <a16:creationId xmlns:a16="http://schemas.microsoft.com/office/drawing/2014/main" id="{4DD25F5C-1622-A666-64E5-B626463A9B6B}"/>
                  </a:ext>
                </a:extLst>
              </p:cNvPr>
              <p:cNvSpPr/>
              <p:nvPr/>
            </p:nvSpPr>
            <p:spPr>
              <a:xfrm>
                <a:off x="2493250" y="6549930"/>
                <a:ext cx="1183626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altLang="zh-CN" sz="1200" dirty="0" err="1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FlagEmbedding</a:t>
                </a:r>
                <a:endPara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879172EC-4050-C341-2D03-775B15EFC03A}"/>
                  </a:ext>
                </a:extLst>
              </p:cNvPr>
              <p:cNvSpPr/>
              <p:nvPr/>
            </p:nvSpPr>
            <p:spPr>
              <a:xfrm>
                <a:off x="3441393" y="5731961"/>
                <a:ext cx="149318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上下文管理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: 圆角 131">
                <a:extLst>
                  <a:ext uri="{FF2B5EF4-FFF2-40B4-BE49-F238E27FC236}">
                    <a16:creationId xmlns:a16="http://schemas.microsoft.com/office/drawing/2014/main" id="{EF0768C7-0EE4-C6C2-94F3-2E1C33474351}"/>
                  </a:ext>
                </a:extLst>
              </p:cNvPr>
              <p:cNvSpPr/>
              <p:nvPr/>
            </p:nvSpPr>
            <p:spPr>
              <a:xfrm>
                <a:off x="1845946" y="5724985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文档格式化</a:t>
                </a:r>
              </a:p>
            </p:txBody>
          </p:sp>
          <p:sp>
            <p:nvSpPr>
              <p:cNvPr id="133" name="矩形: 圆角 132">
                <a:extLst>
                  <a:ext uri="{FF2B5EF4-FFF2-40B4-BE49-F238E27FC236}">
                    <a16:creationId xmlns:a16="http://schemas.microsoft.com/office/drawing/2014/main" id="{8258A3F0-492B-5DD6-0D3A-9F8D9D741CB5}"/>
                  </a:ext>
                </a:extLst>
              </p:cNvPr>
              <p:cNvSpPr/>
              <p:nvPr/>
            </p:nvSpPr>
            <p:spPr>
              <a:xfrm>
                <a:off x="649932" y="5730163"/>
                <a:ext cx="1089661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数据处理</a:t>
                </a:r>
              </a:p>
            </p:txBody>
          </p:sp>
          <p:sp>
            <p:nvSpPr>
              <p:cNvPr id="134" name="矩形: 圆角 133">
                <a:extLst>
                  <a:ext uri="{FF2B5EF4-FFF2-40B4-BE49-F238E27FC236}">
                    <a16:creationId xmlns:a16="http://schemas.microsoft.com/office/drawing/2014/main" id="{AFBE8F54-2482-F5B3-7F15-3571B4A2F9D6}"/>
                  </a:ext>
                </a:extLst>
              </p:cNvPr>
              <p:cNvSpPr/>
              <p:nvPr/>
            </p:nvSpPr>
            <p:spPr>
              <a:xfrm>
                <a:off x="649933" y="6083252"/>
                <a:ext cx="108966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文本生成</a:t>
                </a:r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B9D0C206-E4C2-7D7A-1CF9-28F6DDA78320}"/>
                  </a:ext>
                </a:extLst>
              </p:cNvPr>
              <p:cNvSpPr/>
              <p:nvPr/>
            </p:nvSpPr>
            <p:spPr>
              <a:xfrm>
                <a:off x="1842665" y="6083251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模型服务</a:t>
                </a:r>
              </a:p>
            </p:txBody>
          </p:sp>
          <p:sp>
            <p:nvSpPr>
              <p:cNvPr id="136" name="矩形: 圆角 135">
                <a:extLst>
                  <a:ext uri="{FF2B5EF4-FFF2-40B4-BE49-F238E27FC236}">
                    <a16:creationId xmlns:a16="http://schemas.microsoft.com/office/drawing/2014/main" id="{6D272C89-35D2-1D87-C1D9-FCCFBDBF7B6C}"/>
                  </a:ext>
                </a:extLst>
              </p:cNvPr>
              <p:cNvSpPr/>
              <p:nvPr/>
            </p:nvSpPr>
            <p:spPr>
              <a:xfrm>
                <a:off x="5036841" y="5731961"/>
                <a:ext cx="1768269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算法服务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API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接口</a:t>
                </a:r>
                <a:endPara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矩形: 圆角 136">
                <a:extLst>
                  <a:ext uri="{FF2B5EF4-FFF2-40B4-BE49-F238E27FC236}">
                    <a16:creationId xmlns:a16="http://schemas.microsoft.com/office/drawing/2014/main" id="{65A68354-59D0-113E-BEAA-6F07659E8EB2}"/>
                  </a:ext>
                </a:extLst>
              </p:cNvPr>
              <p:cNvSpPr/>
              <p:nvPr/>
            </p:nvSpPr>
            <p:spPr>
              <a:xfrm>
                <a:off x="3438916" y="6083251"/>
                <a:ext cx="1493180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深度学习</a:t>
                </a:r>
              </a:p>
            </p:txBody>
          </p:sp>
          <p:sp>
            <p:nvSpPr>
              <p:cNvPr id="149" name="矩形: 圆角 148">
                <a:extLst>
                  <a:ext uri="{FF2B5EF4-FFF2-40B4-BE49-F238E27FC236}">
                    <a16:creationId xmlns:a16="http://schemas.microsoft.com/office/drawing/2014/main" id="{B22CD74D-9818-B0C3-EACE-B7776AC3A25D}"/>
                  </a:ext>
                </a:extLst>
              </p:cNvPr>
              <p:cNvSpPr/>
              <p:nvPr/>
            </p:nvSpPr>
            <p:spPr>
              <a:xfrm>
                <a:off x="5035167" y="6083251"/>
                <a:ext cx="1768268" cy="258061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神经网络</a:t>
                </a:r>
              </a:p>
            </p:txBody>
          </p: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A9BBB896-068E-5776-81F8-90537543F9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509" y="6438117"/>
                <a:ext cx="636717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AB2541FE-9A8E-5B48-B660-94A322CD4034}"/>
                </a:ext>
              </a:extLst>
            </p:cNvPr>
            <p:cNvSpPr/>
            <p:nvPr/>
          </p:nvSpPr>
          <p:spPr>
            <a:xfrm>
              <a:off x="7065022" y="1355257"/>
              <a:ext cx="1492238" cy="5502743"/>
            </a:xfrm>
            <a:prstGeom prst="roundRect">
              <a:avLst>
                <a:gd name="adj" fmla="val 3901"/>
              </a:avLst>
            </a:prstGeom>
            <a:solidFill>
              <a:srgbClr val="FFC3C7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DF227B08-49AE-EA22-3DC5-6762C6B9273B}"/>
                </a:ext>
              </a:extLst>
            </p:cNvPr>
            <p:cNvSpPr txBox="1"/>
            <p:nvPr/>
          </p:nvSpPr>
          <p:spPr>
            <a:xfrm>
              <a:off x="7196027" y="1446096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通信协议</a:t>
              </a:r>
            </a:p>
          </p:txBody>
        </p:sp>
        <p:sp>
          <p:nvSpPr>
            <p:cNvPr id="238" name="矩形: 圆角 237">
              <a:extLst>
                <a:ext uri="{FF2B5EF4-FFF2-40B4-BE49-F238E27FC236}">
                  <a16:creationId xmlns:a16="http://schemas.microsoft.com/office/drawing/2014/main" id="{537F9365-473D-0D79-8F11-05DF4D74B35C}"/>
                </a:ext>
              </a:extLst>
            </p:cNvPr>
            <p:cNvSpPr/>
            <p:nvPr/>
          </p:nvSpPr>
          <p:spPr>
            <a:xfrm>
              <a:off x="7176603" y="1755102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HTTP/HTTPS</a:t>
              </a:r>
            </a:p>
          </p:txBody>
        </p:sp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34921925-C349-B2B6-13A6-301F5AC11509}"/>
                </a:ext>
              </a:extLst>
            </p:cNvPr>
            <p:cNvSpPr/>
            <p:nvPr/>
          </p:nvSpPr>
          <p:spPr>
            <a:xfrm>
              <a:off x="7176603" y="2104302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WebSocket</a:t>
              </a:r>
            </a:p>
          </p:txBody>
        </p:sp>
        <p:sp>
          <p:nvSpPr>
            <p:cNvPr id="240" name="矩形: 圆角 239">
              <a:extLst>
                <a:ext uri="{FF2B5EF4-FFF2-40B4-BE49-F238E27FC236}">
                  <a16:creationId xmlns:a16="http://schemas.microsoft.com/office/drawing/2014/main" id="{4AE3FB08-60B7-730B-026A-A27578DD3472}"/>
                </a:ext>
              </a:extLst>
            </p:cNvPr>
            <p:cNvSpPr/>
            <p:nvPr/>
          </p:nvSpPr>
          <p:spPr>
            <a:xfrm>
              <a:off x="7176603" y="245350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 err="1">
                  <a:latin typeface="Times New Roman" panose="02020603050405020304" pitchFamily="18" charset="0"/>
                  <a:ea typeface="微软雅黑" panose="020B0503020204020204" pitchFamily="34" charset="-122"/>
                </a:rPr>
                <a:t>gRPC</a:t>
              </a:r>
              <a:endPara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B18FF517-ED38-D0AC-DAAE-B356CBFBC6F2}"/>
                </a:ext>
              </a:extLst>
            </p:cNvPr>
            <p:cNvSpPr txBox="1"/>
            <p:nvPr/>
          </p:nvSpPr>
          <p:spPr>
            <a:xfrm>
              <a:off x="7196027" y="2900225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数据协议</a:t>
              </a:r>
            </a:p>
          </p:txBody>
        </p:sp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A8C40C8C-342F-35D2-5EDF-EF3B31716322}"/>
                </a:ext>
              </a:extLst>
            </p:cNvPr>
            <p:cNvSpPr/>
            <p:nvPr/>
          </p:nvSpPr>
          <p:spPr>
            <a:xfrm>
              <a:off x="7176603" y="318132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JSON</a:t>
              </a:r>
            </a:p>
          </p:txBody>
        </p:sp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D4705BE2-A0FD-03EC-56AF-D049395DFA4F}"/>
                </a:ext>
              </a:extLst>
            </p:cNvPr>
            <p:cNvSpPr/>
            <p:nvPr/>
          </p:nvSpPr>
          <p:spPr>
            <a:xfrm>
              <a:off x="7176603" y="3530562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XML</a:t>
              </a:r>
            </a:p>
          </p:txBody>
        </p:sp>
        <p:sp>
          <p:nvSpPr>
            <p:cNvPr id="244" name="矩形: 圆角 243">
              <a:extLst>
                <a:ext uri="{FF2B5EF4-FFF2-40B4-BE49-F238E27FC236}">
                  <a16:creationId xmlns:a16="http://schemas.microsoft.com/office/drawing/2014/main" id="{F278F240-BFF6-EEF9-289C-8A1A819D8867}"/>
                </a:ext>
              </a:extLst>
            </p:cNvPr>
            <p:cNvSpPr/>
            <p:nvPr/>
          </p:nvSpPr>
          <p:spPr>
            <a:xfrm>
              <a:off x="7176603" y="3879801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Protocol Buffers</a:t>
              </a:r>
            </a:p>
          </p:txBody>
        </p:sp>
        <p:sp>
          <p:nvSpPr>
            <p:cNvPr id="246" name="文本框 245">
              <a:extLst>
                <a:ext uri="{FF2B5EF4-FFF2-40B4-BE49-F238E27FC236}">
                  <a16:creationId xmlns:a16="http://schemas.microsoft.com/office/drawing/2014/main" id="{2649EC20-A0D2-7D6D-9DC2-80C0A565E9D4}"/>
                </a:ext>
              </a:extLst>
            </p:cNvPr>
            <p:cNvSpPr txBox="1"/>
            <p:nvPr/>
          </p:nvSpPr>
          <p:spPr>
            <a:xfrm>
              <a:off x="-711860" y="7415904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支撑层</a:t>
              </a:r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D64B1188-D940-9F2B-651F-98810EBF651B}"/>
                </a:ext>
              </a:extLst>
            </p:cNvPr>
            <p:cNvSpPr txBox="1"/>
            <p:nvPr/>
          </p:nvSpPr>
          <p:spPr>
            <a:xfrm>
              <a:off x="-711860" y="5864403"/>
              <a:ext cx="12123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算法层</a:t>
              </a:r>
            </a:p>
          </p:txBody>
        </p:sp>
        <p:sp>
          <p:nvSpPr>
            <p:cNvPr id="248" name="矩形: 圆角 247">
              <a:extLst>
                <a:ext uri="{FF2B5EF4-FFF2-40B4-BE49-F238E27FC236}">
                  <a16:creationId xmlns:a16="http://schemas.microsoft.com/office/drawing/2014/main" id="{758681AD-34CC-EDD7-95D4-B4369737A399}"/>
                </a:ext>
              </a:extLst>
            </p:cNvPr>
            <p:cNvSpPr/>
            <p:nvPr/>
          </p:nvSpPr>
          <p:spPr>
            <a:xfrm>
              <a:off x="554042" y="6977802"/>
              <a:ext cx="3843958" cy="1114100"/>
            </a:xfrm>
            <a:prstGeom prst="roundRect">
              <a:avLst>
                <a:gd name="adj" fmla="val 3924"/>
              </a:avLst>
            </a:prstGeom>
            <a:solidFill>
              <a:srgbClr val="BADDF5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0960589E-112B-2A71-1392-03DE10EC3389}"/>
                </a:ext>
              </a:extLst>
            </p:cNvPr>
            <p:cNvSpPr/>
            <p:nvPr/>
          </p:nvSpPr>
          <p:spPr>
            <a:xfrm>
              <a:off x="664139" y="7062167"/>
              <a:ext cx="568861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数据存储</a:t>
              </a:r>
            </a:p>
          </p:txBody>
        </p:sp>
        <p:sp>
          <p:nvSpPr>
            <p:cNvPr id="250" name="矩形: 圆角 249">
              <a:extLst>
                <a:ext uri="{FF2B5EF4-FFF2-40B4-BE49-F238E27FC236}">
                  <a16:creationId xmlns:a16="http://schemas.microsoft.com/office/drawing/2014/main" id="{D97A509A-A4C9-9BC3-7588-CA21FBEE0D5D}"/>
                </a:ext>
              </a:extLst>
            </p:cNvPr>
            <p:cNvSpPr/>
            <p:nvPr/>
          </p:nvSpPr>
          <p:spPr>
            <a:xfrm>
              <a:off x="1331706" y="7056229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关系型数据库</a:t>
              </a:r>
            </a:p>
          </p:txBody>
        </p:sp>
        <p:sp>
          <p:nvSpPr>
            <p:cNvPr id="251" name="矩形: 圆角 250">
              <a:extLst>
                <a:ext uri="{FF2B5EF4-FFF2-40B4-BE49-F238E27FC236}">
                  <a16:creationId xmlns:a16="http://schemas.microsoft.com/office/drawing/2014/main" id="{E64EAA7A-76FD-4E4C-AE54-E5DFDCB627FC}"/>
                </a:ext>
              </a:extLst>
            </p:cNvPr>
            <p:cNvSpPr/>
            <p:nvPr/>
          </p:nvSpPr>
          <p:spPr>
            <a:xfrm>
              <a:off x="1331706" y="7377764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缓存数据库</a:t>
              </a:r>
            </a:p>
          </p:txBody>
        </p:sp>
        <p:sp>
          <p:nvSpPr>
            <p:cNvPr id="252" name="矩形: 圆角 251">
              <a:extLst>
                <a:ext uri="{FF2B5EF4-FFF2-40B4-BE49-F238E27FC236}">
                  <a16:creationId xmlns:a16="http://schemas.microsoft.com/office/drawing/2014/main" id="{EF3E6C9A-6E6B-A60E-C55B-B543791348F8}"/>
                </a:ext>
              </a:extLst>
            </p:cNvPr>
            <p:cNvSpPr/>
            <p:nvPr/>
          </p:nvSpPr>
          <p:spPr>
            <a:xfrm>
              <a:off x="1331706" y="7699300"/>
              <a:ext cx="1363490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文件数据库</a:t>
              </a:r>
            </a:p>
          </p:txBody>
        </p:sp>
        <p:sp>
          <p:nvSpPr>
            <p:cNvPr id="253" name="矩形: 圆角 252">
              <a:extLst>
                <a:ext uri="{FF2B5EF4-FFF2-40B4-BE49-F238E27FC236}">
                  <a16:creationId xmlns:a16="http://schemas.microsoft.com/office/drawing/2014/main" id="{3B24D74B-A2D6-F642-F69C-F55E64AAC0B8}"/>
                </a:ext>
              </a:extLst>
            </p:cNvPr>
            <p:cNvSpPr/>
            <p:nvPr/>
          </p:nvSpPr>
          <p:spPr>
            <a:xfrm>
              <a:off x="2881277" y="7056229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MySQL</a:t>
              </a:r>
              <a:endPara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4" name="矩形: 圆角 253">
              <a:extLst>
                <a:ext uri="{FF2B5EF4-FFF2-40B4-BE49-F238E27FC236}">
                  <a16:creationId xmlns:a16="http://schemas.microsoft.com/office/drawing/2014/main" id="{1B2370BF-E657-6309-DDCB-AA0D8E0D9E6C}"/>
                </a:ext>
              </a:extLst>
            </p:cNvPr>
            <p:cNvSpPr/>
            <p:nvPr/>
          </p:nvSpPr>
          <p:spPr>
            <a:xfrm>
              <a:off x="2881277" y="7377573"/>
              <a:ext cx="1378158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Redis</a:t>
              </a:r>
              <a:endPara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5" name="矩形: 圆角 254">
              <a:extLst>
                <a:ext uri="{FF2B5EF4-FFF2-40B4-BE49-F238E27FC236}">
                  <a16:creationId xmlns:a16="http://schemas.microsoft.com/office/drawing/2014/main" id="{08E6D567-A9B8-8DDD-40EB-89836E48374B}"/>
                </a:ext>
              </a:extLst>
            </p:cNvPr>
            <p:cNvSpPr/>
            <p:nvPr/>
          </p:nvSpPr>
          <p:spPr>
            <a:xfrm>
              <a:off x="2881277" y="7698917"/>
              <a:ext cx="1363490" cy="2580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系统文件</a:t>
              </a:r>
            </a:p>
          </p:txBody>
        </p: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2F8FDE16-84BD-F566-1021-D233108E67B3}"/>
                </a:ext>
              </a:extLst>
            </p:cNvPr>
            <p:cNvCxnSpPr>
              <a:cxnSpLocks/>
            </p:cNvCxnSpPr>
            <p:nvPr/>
          </p:nvCxnSpPr>
          <p:spPr>
            <a:xfrm>
              <a:off x="2793902" y="7064316"/>
              <a:ext cx="0" cy="90471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矩形: 圆角 256">
              <a:extLst>
                <a:ext uri="{FF2B5EF4-FFF2-40B4-BE49-F238E27FC236}">
                  <a16:creationId xmlns:a16="http://schemas.microsoft.com/office/drawing/2014/main" id="{738853BF-4202-4531-ABAC-EB45E271E46F}"/>
                </a:ext>
              </a:extLst>
            </p:cNvPr>
            <p:cNvSpPr/>
            <p:nvPr/>
          </p:nvSpPr>
          <p:spPr>
            <a:xfrm>
              <a:off x="4509063" y="6977802"/>
              <a:ext cx="1713201" cy="1114100"/>
            </a:xfrm>
            <a:prstGeom prst="roundRect">
              <a:avLst>
                <a:gd name="adj" fmla="val 3924"/>
              </a:avLst>
            </a:prstGeom>
            <a:solidFill>
              <a:srgbClr val="D4C5F6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58" name="矩形: 圆角 257">
              <a:extLst>
                <a:ext uri="{FF2B5EF4-FFF2-40B4-BE49-F238E27FC236}">
                  <a16:creationId xmlns:a16="http://schemas.microsoft.com/office/drawing/2014/main" id="{7C9221BF-2AD4-C1AE-0283-72F32BAE8C5C}"/>
                </a:ext>
              </a:extLst>
            </p:cNvPr>
            <p:cNvSpPr/>
            <p:nvPr/>
          </p:nvSpPr>
          <p:spPr>
            <a:xfrm>
              <a:off x="4619161" y="7062167"/>
              <a:ext cx="556503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计算资源</a:t>
              </a:r>
            </a:p>
          </p:txBody>
        </p:sp>
        <p:sp>
          <p:nvSpPr>
            <p:cNvPr id="259" name="矩形: 圆角 258">
              <a:extLst>
                <a:ext uri="{FF2B5EF4-FFF2-40B4-BE49-F238E27FC236}">
                  <a16:creationId xmlns:a16="http://schemas.microsoft.com/office/drawing/2014/main" id="{1FCB4A30-DF2E-5058-9E1B-BB8571DF4D0F}"/>
                </a:ext>
              </a:extLst>
            </p:cNvPr>
            <p:cNvSpPr/>
            <p:nvPr/>
          </p:nvSpPr>
          <p:spPr>
            <a:xfrm>
              <a:off x="5283879" y="7056229"/>
              <a:ext cx="821645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CPU</a:t>
              </a:r>
              <a:endPara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60" name="矩形: 圆角 259">
              <a:extLst>
                <a:ext uri="{FF2B5EF4-FFF2-40B4-BE49-F238E27FC236}">
                  <a16:creationId xmlns:a16="http://schemas.microsoft.com/office/drawing/2014/main" id="{D467187A-E21C-A7AE-BD9B-13E2D70889C5}"/>
                </a:ext>
              </a:extLst>
            </p:cNvPr>
            <p:cNvSpPr/>
            <p:nvPr/>
          </p:nvSpPr>
          <p:spPr>
            <a:xfrm>
              <a:off x="5283879" y="7579689"/>
              <a:ext cx="821645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GPU</a:t>
              </a:r>
              <a:endPara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pic>
          <p:nvPicPr>
            <p:cNvPr id="177" name="Picture 10" descr="https://gimg2.baidu.com/image_search/src=http%3A%2F%2Fhbimg.b0.upaiyun.com%2F95817b7ceef8aa1ba4fc2581b1db8e789fe281953a55-G5sXNm_fw658&amp;refer=http%3A%2F%2Fhbimg.b0.upaiyun.com&amp;app=2002&amp;size=f9999,10000&amp;q=a80&amp;n=0&amp;g=0n&amp;fmt=jpeg?sec=1641094457&amp;t=69f74e5006c240d2e784d20ce30c8be3">
              <a:extLst>
                <a:ext uri="{FF2B5EF4-FFF2-40B4-BE49-F238E27FC236}">
                  <a16:creationId xmlns:a16="http://schemas.microsoft.com/office/drawing/2014/main" id="{4F0CC45D-CC8E-B0C5-B5DF-70DBEAFE1A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988" y="7136860"/>
              <a:ext cx="354860" cy="354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3" name="矩形: 圆角 272">
              <a:extLst>
                <a:ext uri="{FF2B5EF4-FFF2-40B4-BE49-F238E27FC236}">
                  <a16:creationId xmlns:a16="http://schemas.microsoft.com/office/drawing/2014/main" id="{A3F209F4-929E-01B8-D421-C9989C7F3A10}"/>
                </a:ext>
              </a:extLst>
            </p:cNvPr>
            <p:cNvSpPr/>
            <p:nvPr/>
          </p:nvSpPr>
          <p:spPr>
            <a:xfrm>
              <a:off x="6375498" y="6977802"/>
              <a:ext cx="2181761" cy="1114100"/>
            </a:xfrm>
            <a:prstGeom prst="roundRect">
              <a:avLst>
                <a:gd name="adj" fmla="val 3924"/>
              </a:avLst>
            </a:prstGeom>
            <a:solidFill>
              <a:srgbClr val="5290E2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endParaRPr lang="zh-CN" altLang="en-US" sz="10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4" name="矩形: 圆角 273">
              <a:extLst>
                <a:ext uri="{FF2B5EF4-FFF2-40B4-BE49-F238E27FC236}">
                  <a16:creationId xmlns:a16="http://schemas.microsoft.com/office/drawing/2014/main" id="{27B72B84-7376-5EFF-01D3-A0EC7AB092BD}"/>
                </a:ext>
              </a:extLst>
            </p:cNvPr>
            <p:cNvSpPr/>
            <p:nvPr/>
          </p:nvSpPr>
          <p:spPr>
            <a:xfrm>
              <a:off x="6514237" y="7062167"/>
              <a:ext cx="556503" cy="89194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275" name="矩形: 圆角 274">
              <a:extLst>
                <a:ext uri="{FF2B5EF4-FFF2-40B4-BE49-F238E27FC236}">
                  <a16:creationId xmlns:a16="http://schemas.microsoft.com/office/drawing/2014/main" id="{97DE85A7-5415-E55B-12D8-FD2DF84C3B1A}"/>
                </a:ext>
              </a:extLst>
            </p:cNvPr>
            <p:cNvSpPr/>
            <p:nvPr/>
          </p:nvSpPr>
          <p:spPr>
            <a:xfrm>
              <a:off x="7178956" y="7056229"/>
              <a:ext cx="1253844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Windows</a:t>
              </a:r>
              <a:endPara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6" name="矩形: 圆角 275">
              <a:extLst>
                <a:ext uri="{FF2B5EF4-FFF2-40B4-BE49-F238E27FC236}">
                  <a16:creationId xmlns:a16="http://schemas.microsoft.com/office/drawing/2014/main" id="{0A0E9C8D-6E2B-DB97-C847-64878B1C2984}"/>
                </a:ext>
              </a:extLst>
            </p:cNvPr>
            <p:cNvSpPr/>
            <p:nvPr/>
          </p:nvSpPr>
          <p:spPr>
            <a:xfrm>
              <a:off x="7178956" y="7579689"/>
              <a:ext cx="1253844" cy="373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Linux</a:t>
              </a:r>
              <a:endParaRPr lang="zh-CN" altLang="en-US" sz="12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77" name="文本框 276">
              <a:extLst>
                <a:ext uri="{FF2B5EF4-FFF2-40B4-BE49-F238E27FC236}">
                  <a16:creationId xmlns:a16="http://schemas.microsoft.com/office/drawing/2014/main" id="{268C4395-2EEA-EBF6-1BDB-3262086C4CAA}"/>
                </a:ext>
              </a:extLst>
            </p:cNvPr>
            <p:cNvSpPr txBox="1"/>
            <p:nvPr/>
          </p:nvSpPr>
          <p:spPr>
            <a:xfrm>
              <a:off x="7196027" y="5658714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文件传输协议</a:t>
              </a:r>
            </a:p>
          </p:txBody>
        </p:sp>
        <p:sp>
          <p:nvSpPr>
            <p:cNvPr id="278" name="矩形: 圆角 277">
              <a:extLst>
                <a:ext uri="{FF2B5EF4-FFF2-40B4-BE49-F238E27FC236}">
                  <a16:creationId xmlns:a16="http://schemas.microsoft.com/office/drawing/2014/main" id="{CA05E26C-6409-DEE1-461E-A38A315F9460}"/>
                </a:ext>
              </a:extLst>
            </p:cNvPr>
            <p:cNvSpPr/>
            <p:nvPr/>
          </p:nvSpPr>
          <p:spPr>
            <a:xfrm>
              <a:off x="7176603" y="4597665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SSL/TLS</a:t>
              </a:r>
            </a:p>
          </p:txBody>
        </p:sp>
        <p:sp>
          <p:nvSpPr>
            <p:cNvPr id="279" name="矩形: 圆角 278">
              <a:extLst>
                <a:ext uri="{FF2B5EF4-FFF2-40B4-BE49-F238E27FC236}">
                  <a16:creationId xmlns:a16="http://schemas.microsoft.com/office/drawing/2014/main" id="{5E45C72D-3DA8-F4D3-7D7D-E2C39B12A032}"/>
                </a:ext>
              </a:extLst>
            </p:cNvPr>
            <p:cNvSpPr/>
            <p:nvPr/>
          </p:nvSpPr>
          <p:spPr>
            <a:xfrm>
              <a:off x="7176603" y="4912613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JWT</a:t>
              </a:r>
            </a:p>
          </p:txBody>
        </p:sp>
        <p:sp>
          <p:nvSpPr>
            <p:cNvPr id="280" name="矩形: 圆角 279">
              <a:extLst>
                <a:ext uri="{FF2B5EF4-FFF2-40B4-BE49-F238E27FC236}">
                  <a16:creationId xmlns:a16="http://schemas.microsoft.com/office/drawing/2014/main" id="{08A2CF23-405F-E084-7BCB-316AEF18BF5E}"/>
                </a:ext>
              </a:extLst>
            </p:cNvPr>
            <p:cNvSpPr/>
            <p:nvPr/>
          </p:nvSpPr>
          <p:spPr>
            <a:xfrm>
              <a:off x="7176603" y="5227561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CORS</a:t>
              </a:r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8463E33A-9C2E-ACD9-C789-18FBEAABB420}"/>
                </a:ext>
              </a:extLst>
            </p:cNvPr>
            <p:cNvSpPr txBox="1"/>
            <p:nvPr/>
          </p:nvSpPr>
          <p:spPr>
            <a:xfrm>
              <a:off x="7196027" y="4331683"/>
              <a:ext cx="121238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安全协议</a:t>
              </a:r>
            </a:p>
          </p:txBody>
        </p:sp>
        <p:sp>
          <p:nvSpPr>
            <p:cNvPr id="282" name="矩形: 圆角 281">
              <a:extLst>
                <a:ext uri="{FF2B5EF4-FFF2-40B4-BE49-F238E27FC236}">
                  <a16:creationId xmlns:a16="http://schemas.microsoft.com/office/drawing/2014/main" id="{98695376-0FBE-DD1C-9732-6BC19126BC8B}"/>
                </a:ext>
              </a:extLst>
            </p:cNvPr>
            <p:cNvSpPr/>
            <p:nvPr/>
          </p:nvSpPr>
          <p:spPr>
            <a:xfrm>
              <a:off x="7176603" y="5963479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FTP</a:t>
              </a:r>
            </a:p>
          </p:txBody>
        </p:sp>
        <p:sp>
          <p:nvSpPr>
            <p:cNvPr id="283" name="矩形: 圆角 282">
              <a:extLst>
                <a:ext uri="{FF2B5EF4-FFF2-40B4-BE49-F238E27FC236}">
                  <a16:creationId xmlns:a16="http://schemas.microsoft.com/office/drawing/2014/main" id="{D15C3D77-C8A4-9A36-F352-F3D1752B18F5}"/>
                </a:ext>
              </a:extLst>
            </p:cNvPr>
            <p:cNvSpPr/>
            <p:nvPr/>
          </p:nvSpPr>
          <p:spPr>
            <a:xfrm>
              <a:off x="7176603" y="6278427"/>
              <a:ext cx="1212382" cy="2626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SFTP</a:t>
              </a:r>
            </a:p>
          </p:txBody>
        </p:sp>
        <p:pic>
          <p:nvPicPr>
            <p:cNvPr id="284" name="图片 283">
              <a:extLst>
                <a:ext uri="{FF2B5EF4-FFF2-40B4-BE49-F238E27FC236}">
                  <a16:creationId xmlns:a16="http://schemas.microsoft.com/office/drawing/2014/main" id="{AC33C6B9-7F26-121E-9DA3-8502FC319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8900" y="7135180"/>
              <a:ext cx="358219" cy="358219"/>
            </a:xfrm>
            <a:prstGeom prst="rect">
              <a:avLst/>
            </a:prstGeom>
          </p:spPr>
        </p:pic>
        <p:pic>
          <p:nvPicPr>
            <p:cNvPr id="286" name="图片 285">
              <a:extLst>
                <a:ext uri="{FF2B5EF4-FFF2-40B4-BE49-F238E27FC236}">
                  <a16:creationId xmlns:a16="http://schemas.microsoft.com/office/drawing/2014/main" id="{8A72CBED-2DA4-E387-960A-1C0BEADAE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7460" y="7128057"/>
              <a:ext cx="348743" cy="348743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0F7FA20-A189-70BD-8BC7-F4F2E3098630}"/>
              </a:ext>
            </a:extLst>
          </p:cNvPr>
          <p:cNvSpPr txBox="1"/>
          <p:nvPr/>
        </p:nvSpPr>
        <p:spPr>
          <a:xfrm>
            <a:off x="497282" y="1238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系统架构图</a:t>
            </a:r>
          </a:p>
        </p:txBody>
      </p:sp>
    </p:spTree>
    <p:extLst>
      <p:ext uri="{BB962C8B-B14F-4D97-AF65-F5344CB8AC3E}">
        <p14:creationId xmlns:p14="http://schemas.microsoft.com/office/powerpoint/2010/main" val="589576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12CD-7DD1-92A9-7B37-80D4DBF8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C2092D37-8E3B-1965-C1DB-17A037B25BD0}"/>
              </a:ext>
            </a:extLst>
          </p:cNvPr>
          <p:cNvSpPr txBox="1"/>
          <p:nvPr/>
        </p:nvSpPr>
        <p:spPr>
          <a:xfrm>
            <a:off x="316307" y="1047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架构流程图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03F0CF40-FE8F-1E8C-5FFC-F970BA08C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49003"/>
            <a:ext cx="9144000" cy="59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49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8B8C-DEEF-14C4-0E01-181EE90F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5779D1E6-8A03-2729-E655-A35A844EC6BA}"/>
              </a:ext>
            </a:extLst>
          </p:cNvPr>
          <p:cNvSpPr txBox="1"/>
          <p:nvPr/>
        </p:nvSpPr>
        <p:spPr>
          <a:xfrm>
            <a:off x="381077" y="10759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功能模块图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C2A2F928-2130-82B9-8B7E-729C10DCB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885852"/>
            <a:ext cx="9144000" cy="308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9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3675-700B-0790-87D6-7EA991696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418A909E-F5BA-EB12-4AE3-B5355837A265}"/>
              </a:ext>
            </a:extLst>
          </p:cNvPr>
          <p:cNvSpPr txBox="1"/>
          <p:nvPr/>
        </p:nvSpPr>
        <p:spPr>
          <a:xfrm>
            <a:off x="-80595" y="15240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暴力行为检测模块</a:t>
            </a:r>
            <a:endParaRPr lang="en-US" altLang="zh-CN" dirty="0"/>
          </a:p>
          <a:p>
            <a:r>
              <a:rPr lang="zh-CN" altLang="en-US" dirty="0"/>
              <a:t>流程图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7BC529E2-FCFC-8296-A2E3-B6D7B0AC2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239" y="0"/>
            <a:ext cx="50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6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44266</TotalTime>
  <Words>185</Words>
  <Application>Microsoft Office PowerPoint</Application>
  <PresentationFormat>全屏显示(4:3)</PresentationFormat>
  <Paragraphs>98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Pengjie Ren</dc:creator>
  <cp:lastModifiedBy>建强 郭</cp:lastModifiedBy>
  <cp:revision>2217</cp:revision>
  <dcterms:created xsi:type="dcterms:W3CDTF">2022-01-09T08:47:53Z</dcterms:created>
  <dcterms:modified xsi:type="dcterms:W3CDTF">2025-07-01T03:23:55Z</dcterms:modified>
</cp:coreProperties>
</file>